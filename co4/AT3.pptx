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75" r:id="rId3"/>
    <p:sldId id="283" r:id="rId4"/>
    <p:sldId id="257" r:id="rId5"/>
    <p:sldId id="284" r:id="rId6"/>
    <p:sldId id="285" r:id="rId7"/>
    <p:sldId id="286" r:id="rId8"/>
    <p:sldId id="287" r:id="rId9"/>
    <p:sldId id="258" r:id="rId10"/>
    <p:sldId id="260" r:id="rId11"/>
    <p:sldId id="279" r:id="rId12"/>
    <p:sldId id="288" r:id="rId13"/>
    <p:sldId id="269" r:id="rId14"/>
    <p:sldId id="264" r:id="rId15"/>
    <p:sldId id="265" r:id="rId16"/>
    <p:sldId id="266"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71" autoAdjust="0"/>
    <p:restoredTop sz="94660"/>
  </p:normalViewPr>
  <p:slideViewPr>
    <p:cSldViewPr>
      <p:cViewPr varScale="1">
        <p:scale>
          <a:sx n="105" d="100"/>
          <a:sy n="105" d="100"/>
        </p:scale>
        <p:origin x="76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E3B5EFF-CFBB-47CB-A405-80002AC0D573}" type="datetimeFigureOut">
              <a:rPr lang="en-IN" smtClean="0"/>
              <a:pPr/>
              <a:t>19-08-2026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9037C50-1B63-48CC-ADBD-7A284965CF16}" type="slidenum">
              <a:rPr lang="en-IN" smtClean="0"/>
              <a:pPr/>
              <a:t>‹#›</a:t>
            </a:fld>
            <a:endParaRPr lang="en-IN"/>
          </a:p>
        </p:txBody>
      </p:sp>
    </p:spTree>
    <p:extLst>
      <p:ext uri="{BB962C8B-B14F-4D97-AF65-F5344CB8AC3E}">
        <p14:creationId xmlns:p14="http://schemas.microsoft.com/office/powerpoint/2010/main" val="1332724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037C50-1B63-48CC-ADBD-7A284965CF16}" type="slidenum">
              <a:rPr lang="en-IN" smtClean="0"/>
              <a:pPr/>
              <a:t>9</a:t>
            </a:fld>
            <a:endParaRPr lang="en-IN"/>
          </a:p>
        </p:txBody>
      </p:sp>
    </p:spTree>
    <p:extLst>
      <p:ext uri="{BB962C8B-B14F-4D97-AF65-F5344CB8AC3E}">
        <p14:creationId xmlns:p14="http://schemas.microsoft.com/office/powerpoint/2010/main" val="2771427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037C50-1B63-48CC-ADBD-7A284965CF16}" type="slidenum">
              <a:rPr lang="en-IN" smtClean="0"/>
              <a:pPr/>
              <a:t>10</a:t>
            </a:fld>
            <a:endParaRPr lang="en-IN"/>
          </a:p>
        </p:txBody>
      </p:sp>
    </p:spTree>
    <p:extLst>
      <p:ext uri="{BB962C8B-B14F-4D97-AF65-F5344CB8AC3E}">
        <p14:creationId xmlns:p14="http://schemas.microsoft.com/office/powerpoint/2010/main" val="808930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190CF-A1C9-601C-AD10-3101144EB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48FF0-B852-F4DE-E902-FB5F978C9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8DF55-BDE5-9466-3E6B-954D4F8DD84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D16A42-7171-5901-891F-1011691ED3C3}"/>
              </a:ext>
            </a:extLst>
          </p:cNvPr>
          <p:cNvSpPr>
            <a:spLocks noGrp="1"/>
          </p:cNvSpPr>
          <p:nvPr>
            <p:ph type="sldNum" sz="quarter" idx="5"/>
          </p:nvPr>
        </p:nvSpPr>
        <p:spPr/>
        <p:txBody>
          <a:bodyPr/>
          <a:lstStyle/>
          <a:p>
            <a:fld id="{49037C50-1B63-48CC-ADBD-7A284965CF16}" type="slidenum">
              <a:rPr lang="en-IN" smtClean="0"/>
              <a:pPr/>
              <a:t>11</a:t>
            </a:fld>
            <a:endParaRPr lang="en-IN"/>
          </a:p>
        </p:txBody>
      </p:sp>
    </p:spTree>
    <p:extLst>
      <p:ext uri="{BB962C8B-B14F-4D97-AF65-F5344CB8AC3E}">
        <p14:creationId xmlns:p14="http://schemas.microsoft.com/office/powerpoint/2010/main" val="1865281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C00000"/>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C0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C00000"/>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C0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524000" y="352048"/>
            <a:ext cx="9143999" cy="1109629"/>
          </a:xfrm>
          <a:prstGeom prst="rect">
            <a:avLst/>
          </a:prstGeom>
        </p:spPr>
      </p:pic>
      <p:sp>
        <p:nvSpPr>
          <p:cNvPr id="2" name="Holder 2"/>
          <p:cNvSpPr>
            <a:spLocks noGrp="1"/>
          </p:cNvSpPr>
          <p:nvPr>
            <p:ph type="title"/>
          </p:nvPr>
        </p:nvSpPr>
        <p:spPr>
          <a:xfrm>
            <a:off x="1862496" y="2154461"/>
            <a:ext cx="8467007" cy="695960"/>
          </a:xfrm>
          <a:prstGeom prst="rect">
            <a:avLst/>
          </a:prstGeom>
        </p:spPr>
        <p:txBody>
          <a:bodyPr wrap="square" lIns="0" tIns="0" rIns="0" bIns="0">
            <a:spAutoFit/>
          </a:bodyPr>
          <a:lstStyle>
            <a:lvl1pPr>
              <a:defRPr sz="4400" b="0" i="0">
                <a:solidFill>
                  <a:srgbClr val="C00000"/>
                </a:solidFill>
                <a:latin typeface="Tahoma"/>
                <a:cs typeface="Tahoma"/>
              </a:defRPr>
            </a:lvl1pPr>
          </a:lstStyle>
          <a:p>
            <a:endParaRPr/>
          </a:p>
        </p:txBody>
      </p:sp>
      <p:sp>
        <p:nvSpPr>
          <p:cNvPr id="3" name="Holder 3"/>
          <p:cNvSpPr>
            <a:spLocks noGrp="1"/>
          </p:cNvSpPr>
          <p:nvPr>
            <p:ph type="body" idx="1"/>
          </p:nvPr>
        </p:nvSpPr>
        <p:spPr>
          <a:xfrm>
            <a:off x="819876" y="3187371"/>
            <a:ext cx="11126470" cy="276860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0564" y="4688142"/>
            <a:ext cx="3733800" cy="1516377"/>
          </a:xfrm>
          <a:prstGeom prst="rect">
            <a:avLst/>
          </a:prstGeom>
        </p:spPr>
        <p:txBody>
          <a:bodyPr vert="horz" wrap="square" lIns="0" tIns="17145" rIns="0" bIns="0" rtlCol="0">
            <a:spAutoFit/>
          </a:bodyPr>
          <a:lstStyle/>
          <a:p>
            <a:pPr marL="12700" marR="5080">
              <a:lnSpc>
                <a:spcPct val="124400"/>
              </a:lnSpc>
              <a:spcBef>
                <a:spcPts val="135"/>
              </a:spcBef>
            </a:pPr>
            <a:r>
              <a:rPr lang="en-US" b="1" spc="-10" dirty="0">
                <a:solidFill>
                  <a:srgbClr val="C00000"/>
                </a:solidFill>
                <a:latin typeface="Times New Roman" panose="02020603050405020304" pitchFamily="18" charset="0"/>
                <a:cs typeface="Times New Roman" panose="02020603050405020304" pitchFamily="18" charset="0"/>
              </a:rPr>
              <a:t>Guided by</a:t>
            </a:r>
            <a:endParaRPr lang="en-US" b="1" dirty="0">
              <a:solidFill>
                <a:schemeClr val="tx1">
                  <a:lumMod val="85000"/>
                  <a:lumOff val="15000"/>
                </a:schemeClr>
              </a:solidFill>
              <a:latin typeface="Times New Roman" panose="02020603050405020304" pitchFamily="18" charset="0"/>
              <a:cs typeface="Times New Roman" panose="02020603050405020304" pitchFamily="18" charset="0"/>
            </a:endParaRP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Dr. K. Saravanan</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Department of CSE,</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Saveetha School of Engineering</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marL="12700" marR="5080">
              <a:lnSpc>
                <a:spcPct val="124400"/>
              </a:lnSpc>
              <a:spcBef>
                <a:spcPts val="135"/>
              </a:spcBef>
            </a:pPr>
            <a:endParaRPr lang="en-IN" dirty="0">
              <a:latin typeface="Times New Roman" panose="02020603050405020304" pitchFamily="18" charset="0"/>
              <a:cs typeface="Times New Roman" panose="02020603050405020304" pitchFamily="18" charset="0"/>
            </a:endParaRPr>
          </a:p>
        </p:txBody>
      </p:sp>
      <p:sp>
        <p:nvSpPr>
          <p:cNvPr id="3" name="object 3"/>
          <p:cNvSpPr txBox="1"/>
          <p:nvPr/>
        </p:nvSpPr>
        <p:spPr>
          <a:xfrm>
            <a:off x="7620000" y="4524282"/>
            <a:ext cx="4953000" cy="1844095"/>
          </a:xfrm>
          <a:prstGeom prst="rect">
            <a:avLst/>
          </a:prstGeom>
        </p:spPr>
        <p:txBody>
          <a:bodyPr vert="horz" wrap="square" lIns="0" tIns="91440" rIns="0" bIns="0" rtlCol="0">
            <a:spAutoFit/>
          </a:bodyPr>
          <a:lstStyle/>
          <a:p>
            <a:pPr algn="l"/>
            <a:r>
              <a:rPr lang="en-IN" b="1" dirty="0">
                <a:solidFill>
                  <a:srgbClr val="C00000"/>
                </a:solidFill>
                <a:latin typeface="Times New Roman"/>
                <a:cs typeface="Times New Roman"/>
              </a:rPr>
              <a:t>Presented</a:t>
            </a:r>
            <a:r>
              <a:rPr lang="en-IN" b="1" spc="-105" dirty="0">
                <a:solidFill>
                  <a:srgbClr val="C00000"/>
                </a:solidFill>
                <a:latin typeface="Times New Roman"/>
                <a:cs typeface="Times New Roman"/>
              </a:rPr>
              <a:t> </a:t>
            </a:r>
            <a:r>
              <a:rPr lang="en-IN" b="1" spc="-25" dirty="0">
                <a:solidFill>
                  <a:srgbClr val="C00000"/>
                </a:solidFill>
                <a:latin typeface="Times New Roman"/>
                <a:cs typeface="Times New Roman"/>
              </a:rPr>
              <a:t>by</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Digvijay A              192320045</a:t>
            </a:r>
          </a:p>
          <a:p>
            <a:r>
              <a:rPr lang="en-US" dirty="0" err="1">
                <a:solidFill>
                  <a:schemeClr val="tx1">
                    <a:lumMod val="85000"/>
                    <a:lumOff val="15000"/>
                  </a:schemeClr>
                </a:solidFill>
                <a:latin typeface="Times New Roman" panose="02020603050405020304" pitchFamily="18" charset="0"/>
                <a:cs typeface="Times New Roman" panose="02020603050405020304" pitchFamily="18" charset="0"/>
              </a:rPr>
              <a:t>Reshini</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Priya B       192320035 </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Vishal J                   192412433</a:t>
            </a:r>
          </a:p>
          <a:p>
            <a:r>
              <a:rPr lang="en-US" dirty="0">
                <a:solidFill>
                  <a:schemeClr val="tx1">
                    <a:lumMod val="85000"/>
                    <a:lumOff val="15000"/>
                  </a:schemeClr>
                </a:solidFill>
                <a:latin typeface="Times New Roman" panose="02020603050405020304" pitchFamily="18" charset="0"/>
                <a:cs typeface="Times New Roman" panose="02020603050405020304" pitchFamily="18" charset="0"/>
              </a:rPr>
              <a:t>Saveetha School of Engineering</a:t>
            </a:r>
            <a:endParaRPr lang="en-IN" dirty="0">
              <a:solidFill>
                <a:schemeClr val="tx1">
                  <a:lumMod val="85000"/>
                  <a:lumOff val="15000"/>
                </a:schemeClr>
              </a:solidFill>
              <a:latin typeface="Times New Roman" panose="02020603050405020304" pitchFamily="18" charset="0"/>
              <a:cs typeface="Times New Roman" panose="02020603050405020304" pitchFamily="18" charset="0"/>
            </a:endParaRPr>
          </a:p>
          <a:p>
            <a:pPr marL="469900" algn="ctr">
              <a:lnSpc>
                <a:spcPct val="100000"/>
              </a:lnSpc>
              <a:spcBef>
                <a:spcPts val="720"/>
              </a:spcBef>
            </a:pPr>
            <a:endParaRPr dirty="0">
              <a:latin typeface="Times New Roman"/>
              <a:cs typeface="Times New Roman"/>
            </a:endParaRPr>
          </a:p>
        </p:txBody>
      </p:sp>
      <p:sp>
        <p:nvSpPr>
          <p:cNvPr id="5" name="object 5"/>
          <p:cNvSpPr txBox="1"/>
          <p:nvPr/>
        </p:nvSpPr>
        <p:spPr>
          <a:xfrm>
            <a:off x="1371600" y="2677811"/>
            <a:ext cx="9906000" cy="443711"/>
          </a:xfrm>
          <a:prstGeom prst="rect">
            <a:avLst/>
          </a:prstGeom>
        </p:spPr>
        <p:txBody>
          <a:bodyPr vert="horz" wrap="square" lIns="0" tIns="12700" rIns="0" bIns="0" rtlCol="0">
            <a:spAutoFit/>
          </a:bodyPr>
          <a:lstStyle/>
          <a:p>
            <a:pPr algn="ctr"/>
            <a:r>
              <a:rPr lang="en-GB" sz="2800" b="1" dirty="0">
                <a:solidFill>
                  <a:srgbClr val="C00000"/>
                </a:solidFill>
                <a:latin typeface="Times New Roman" panose="02020603050405020304" pitchFamily="18" charset="0"/>
                <a:cs typeface="Times New Roman" panose="02020603050405020304" pitchFamily="18" charset="0"/>
              </a:rPr>
              <a:t>Smart Agriculture Farm Management System</a:t>
            </a:r>
            <a:endParaRPr lang="en-IN" sz="2800" b="1" dirty="0">
              <a:solidFill>
                <a:srgbClr val="C00000"/>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4965700" y="1923444"/>
            <a:ext cx="22606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Times New Roman"/>
                <a:cs typeface="Times New Roman"/>
              </a:rPr>
              <a:t>Capstone</a:t>
            </a:r>
            <a:r>
              <a:rPr sz="2400" b="1" spc="-140" dirty="0">
                <a:solidFill>
                  <a:srgbClr val="C00000"/>
                </a:solidFill>
                <a:latin typeface="Times New Roman"/>
                <a:cs typeface="Times New Roman"/>
              </a:rPr>
              <a:t> </a:t>
            </a:r>
            <a:r>
              <a:rPr sz="2400" b="1" spc="-10" dirty="0">
                <a:solidFill>
                  <a:srgbClr val="C00000"/>
                </a:solidFill>
                <a:latin typeface="Times New Roman"/>
                <a:cs typeface="Times New Roman"/>
              </a:rPr>
              <a:t>Project</a:t>
            </a:r>
            <a:endParaRPr sz="2400" dirty="0">
              <a:latin typeface="Times New Roman"/>
              <a:cs typeface="Times New Roman"/>
            </a:endParaRPr>
          </a:p>
        </p:txBody>
      </p:sp>
      <p:sp>
        <p:nvSpPr>
          <p:cNvPr id="4" name="TextBox 3">
            <a:extLst>
              <a:ext uri="{FF2B5EF4-FFF2-40B4-BE49-F238E27FC236}">
                <a16:creationId xmlns:a16="http://schemas.microsoft.com/office/drawing/2014/main" id="{1A91E6A2-1C1A-6643-AE0B-0F48BAF08443}"/>
              </a:ext>
            </a:extLst>
          </p:cNvPr>
          <p:cNvSpPr txBox="1"/>
          <p:nvPr/>
        </p:nvSpPr>
        <p:spPr>
          <a:xfrm>
            <a:off x="457200" y="3234922"/>
            <a:ext cx="11201400" cy="954107"/>
          </a:xfrm>
          <a:prstGeom prst="rect">
            <a:avLst/>
          </a:prstGeom>
          <a:noFill/>
        </p:spPr>
        <p:txBody>
          <a:bodyPr wrap="square" rtlCol="0">
            <a:spAutoFit/>
          </a:bodyPr>
          <a:lstStyle/>
          <a:p>
            <a:pPr algn="ctr" rtl="0"/>
            <a:r>
              <a:rPr lang="en-US" sz="2800" b="1" dirty="0">
                <a:solidFill>
                  <a:srgbClr val="002060"/>
                </a:solidFill>
                <a:latin typeface="Times New Roman"/>
                <a:ea typeface="Times New Roman"/>
                <a:cs typeface="Times New Roman"/>
                <a:sym typeface="Times New Roman"/>
              </a:rPr>
              <a:t>CSA0211 – C Programming</a:t>
            </a:r>
            <a:endParaRPr lang="en-US" sz="3600" b="1" dirty="0">
              <a:latin typeface="Times New Roman"/>
              <a:ea typeface="Times New Roman"/>
              <a:cs typeface="Times New Roman"/>
              <a:sym typeface="Times New Roman"/>
            </a:endParaRPr>
          </a:p>
          <a:p>
            <a:pPr algn="ct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E42E-B983-DD51-7A2C-7D93D369F12B}"/>
              </a:ext>
            </a:extLst>
          </p:cNvPr>
          <p:cNvSpPr>
            <a:spLocks noGrp="1"/>
          </p:cNvSpPr>
          <p:nvPr>
            <p:ph type="title"/>
          </p:nvPr>
        </p:nvSpPr>
        <p:spPr>
          <a:xfrm>
            <a:off x="1862496" y="1828800"/>
            <a:ext cx="8467007" cy="677108"/>
          </a:xfrm>
        </p:spPr>
        <p:txBody>
          <a:bodyPr/>
          <a:lstStyle/>
          <a:p>
            <a:pPr algn="ctr"/>
            <a:r>
              <a:rPr lang="en-US" b="1" spc="-10" dirty="0">
                <a:solidFill>
                  <a:schemeClr val="tx1"/>
                </a:solidFill>
                <a:latin typeface="Times New Roman"/>
                <a:cs typeface="Times New Roman"/>
              </a:rPr>
              <a:t>Problem Statement</a:t>
            </a:r>
            <a:endParaRPr lang="en-IN" dirty="0"/>
          </a:p>
        </p:txBody>
      </p:sp>
      <p:sp>
        <p:nvSpPr>
          <p:cNvPr id="3" name="Text Placeholder 2">
            <a:extLst>
              <a:ext uri="{FF2B5EF4-FFF2-40B4-BE49-F238E27FC236}">
                <a16:creationId xmlns:a16="http://schemas.microsoft.com/office/drawing/2014/main" id="{317930F2-4B26-513F-9530-10D1BC994EAF}"/>
              </a:ext>
            </a:extLst>
          </p:cNvPr>
          <p:cNvSpPr>
            <a:spLocks noGrp="1"/>
          </p:cNvSpPr>
          <p:nvPr>
            <p:ph type="body" idx="1"/>
          </p:nvPr>
        </p:nvSpPr>
        <p:spPr>
          <a:xfrm>
            <a:off x="532765" y="2667000"/>
            <a:ext cx="11126470" cy="2954655"/>
          </a:xfrm>
        </p:spPr>
        <p:txBody>
          <a:bodyPr/>
          <a:lstStyle/>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Traditional farm record management is mostly manual, making it difficult for farmers to organize crop information, monitor resources, track expenses, and maintain harvest records. </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Paper-based documentation often results in data loss, calculation errors, and inefficient decision-making.</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There is a need for a simple software system that digitally stores farm information using C programming concepts and file handling, enabling efficient record management and improved agricultural productivity.</a:t>
            </a:r>
          </a:p>
        </p:txBody>
      </p:sp>
    </p:spTree>
    <p:extLst>
      <p:ext uri="{BB962C8B-B14F-4D97-AF65-F5344CB8AC3E}">
        <p14:creationId xmlns:p14="http://schemas.microsoft.com/office/powerpoint/2010/main" val="2667674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1CF86-B99D-85F4-E3D2-6A3D74E21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FEFC3-C436-CFE2-F9D4-191214FB023E}"/>
              </a:ext>
            </a:extLst>
          </p:cNvPr>
          <p:cNvSpPr>
            <a:spLocks noGrp="1"/>
          </p:cNvSpPr>
          <p:nvPr>
            <p:ph type="title"/>
          </p:nvPr>
        </p:nvSpPr>
        <p:spPr>
          <a:xfrm>
            <a:off x="1862496" y="1752600"/>
            <a:ext cx="8467007" cy="677108"/>
          </a:xfrm>
        </p:spPr>
        <p:txBody>
          <a:bodyPr/>
          <a:lstStyle/>
          <a:p>
            <a:pPr algn="ctr"/>
            <a:r>
              <a:rPr lang="en-US" b="1" spc="-10" dirty="0">
                <a:solidFill>
                  <a:schemeClr val="tx1"/>
                </a:solidFill>
                <a:latin typeface="Times New Roman"/>
                <a:cs typeface="Times New Roman"/>
              </a:rPr>
              <a:t>A</a:t>
            </a:r>
            <a:r>
              <a:rPr lang="en-IN" b="1" spc="-10" dirty="0">
                <a:solidFill>
                  <a:schemeClr val="tx1"/>
                </a:solidFill>
                <a:latin typeface="Times New Roman"/>
                <a:cs typeface="Times New Roman"/>
              </a:rPr>
              <a:t>BSTRACT</a:t>
            </a:r>
            <a:endParaRPr lang="en-IN" dirty="0"/>
          </a:p>
        </p:txBody>
      </p:sp>
      <p:sp>
        <p:nvSpPr>
          <p:cNvPr id="3" name="Text Placeholder 2">
            <a:extLst>
              <a:ext uri="{FF2B5EF4-FFF2-40B4-BE49-F238E27FC236}">
                <a16:creationId xmlns:a16="http://schemas.microsoft.com/office/drawing/2014/main" id="{61BB2679-C0BF-9B43-3853-64E2775711F0}"/>
              </a:ext>
            </a:extLst>
          </p:cNvPr>
          <p:cNvSpPr>
            <a:spLocks noGrp="1"/>
          </p:cNvSpPr>
          <p:nvPr>
            <p:ph type="body" idx="1"/>
          </p:nvPr>
        </p:nvSpPr>
        <p:spPr>
          <a:xfrm>
            <a:off x="532764" y="2429708"/>
            <a:ext cx="11126470" cy="3693319"/>
          </a:xfrm>
        </p:spPr>
        <p:txBody>
          <a:bodyPr/>
          <a:lstStyle/>
          <a:p>
            <a:pPr algn="just"/>
            <a:r>
              <a:rPr lang="en-IN" dirty="0">
                <a:latin typeface="Times New Roman" panose="02020603050405020304" pitchFamily="18" charset="0"/>
                <a:cs typeface="Times New Roman" panose="02020603050405020304" pitchFamily="18" charset="0"/>
              </a:rPr>
              <a:t>The Smart Agriculture Farm Management System is a console-based application developed in C to simplify agricultural record management.</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system enables farmers to:</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Register crop details </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Manage cultivation activities </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 farm resources and expenses </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Record harvest information </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 data permanently using files </a:t>
            </a:r>
          </a:p>
          <a:p>
            <a:pPr marL="342900" indent="-34290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application uses arrays, strings, functions, and file handling to organize agricultural records. It minimizes paperwork, improves accuracy, and provides an efficient method for maintaining farm information.</a:t>
            </a:r>
          </a:p>
        </p:txBody>
      </p:sp>
    </p:spTree>
    <p:extLst>
      <p:ext uri="{BB962C8B-B14F-4D97-AF65-F5344CB8AC3E}">
        <p14:creationId xmlns:p14="http://schemas.microsoft.com/office/powerpoint/2010/main" val="96421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1000" y="1731649"/>
            <a:ext cx="3809999" cy="566822"/>
          </a:xfrm>
          <a:prstGeom prst="rect">
            <a:avLst/>
          </a:prstGeom>
        </p:spPr>
        <p:txBody>
          <a:bodyPr vert="horz" wrap="square" lIns="0" tIns="12700" rIns="0" bIns="0" rtlCol="0">
            <a:spAutoFit/>
          </a:bodyPr>
          <a:lstStyle/>
          <a:p>
            <a:pPr marL="12700">
              <a:lnSpc>
                <a:spcPct val="100000"/>
              </a:lnSpc>
              <a:spcBef>
                <a:spcPts val="100"/>
              </a:spcBef>
            </a:pPr>
            <a:r>
              <a:rPr lang="en-IN" sz="3600" b="1" spc="-10" dirty="0">
                <a:solidFill>
                  <a:schemeClr val="tx1"/>
                </a:solidFill>
                <a:latin typeface="Times New Roman"/>
                <a:cs typeface="Times New Roman"/>
              </a:rPr>
              <a:t>INTRODUCTION</a:t>
            </a:r>
          </a:p>
        </p:txBody>
      </p:sp>
      <p:sp>
        <p:nvSpPr>
          <p:cNvPr id="6" name="Rectangle 1">
            <a:extLst>
              <a:ext uri="{FF2B5EF4-FFF2-40B4-BE49-F238E27FC236}">
                <a16:creationId xmlns:a16="http://schemas.microsoft.com/office/drawing/2014/main" id="{03E13600-2B7B-271A-4380-64B067293F78}"/>
              </a:ext>
            </a:extLst>
          </p:cNvPr>
          <p:cNvSpPr>
            <a:spLocks noChangeArrowheads="1"/>
          </p:cNvSpPr>
          <p:nvPr/>
        </p:nvSpPr>
        <p:spPr bwMode="auto">
          <a:xfrm>
            <a:off x="381000" y="4309540"/>
            <a:ext cx="7010400"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031EDC2-E9FD-97D9-8600-311D4AA3CAB3}"/>
              </a:ext>
            </a:extLst>
          </p:cNvPr>
          <p:cNvSpPr txBox="1"/>
          <p:nvPr/>
        </p:nvSpPr>
        <p:spPr>
          <a:xfrm>
            <a:off x="228600" y="2286000"/>
            <a:ext cx="7010400" cy="4110741"/>
          </a:xfrm>
          <a:prstGeom prst="rect">
            <a:avLst/>
          </a:prstGeom>
          <a:noFill/>
        </p:spPr>
        <p:txBody>
          <a:bodyPr wrap="square"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600" dirty="0">
                <a:latin typeface="Times New Roman" panose="02020603050405020304" pitchFamily="18" charset="0"/>
                <a:cs typeface="Times New Roman" panose="02020603050405020304" pitchFamily="18" charset="0"/>
              </a:rPr>
              <a:t>Agriculture requires efficient management of crop cultivation, farm resources, expenses, and harvest records.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600" dirty="0">
                <a:latin typeface="Times New Roman" panose="02020603050405020304" pitchFamily="18" charset="0"/>
                <a:cs typeface="Times New Roman" panose="02020603050405020304" pitchFamily="18" charset="0"/>
              </a:rPr>
              <a:t>Traditional paper-based record keeping is time-consuming, prone to errors, and difficult to maintain.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Smart Agriculture Farm Management System</a:t>
            </a:r>
            <a:r>
              <a:rPr lang="en-IN" sz="1600" dirty="0">
                <a:latin typeface="Times New Roman" panose="02020603050405020304" pitchFamily="18" charset="0"/>
                <a:cs typeface="Times New Roman" panose="02020603050405020304" pitchFamily="18" charset="0"/>
              </a:rPr>
              <a:t> is a console-based application developed using the </a:t>
            </a:r>
            <a:r>
              <a:rPr lang="en-IN" sz="1600" b="1" dirty="0">
                <a:latin typeface="Times New Roman" panose="02020603050405020304" pitchFamily="18" charset="0"/>
                <a:cs typeface="Times New Roman" panose="02020603050405020304" pitchFamily="18" charset="0"/>
              </a:rPr>
              <a:t>C programming language</a:t>
            </a:r>
            <a:r>
              <a:rPr lang="en-IN" sz="1600" dirty="0">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600" dirty="0">
                <a:latin typeface="Times New Roman" panose="02020603050405020304" pitchFamily="18" charset="0"/>
                <a:cs typeface="Times New Roman" panose="02020603050405020304" pitchFamily="18" charset="0"/>
              </a:rPr>
              <a:t>It enables farmers to digitally manage crop records, resource usage, expenses, and harvest information.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600" dirty="0">
                <a:latin typeface="Times New Roman" panose="02020603050405020304" pitchFamily="18" charset="0"/>
                <a:cs typeface="Times New Roman" panose="02020603050405020304" pitchFamily="18" charset="0"/>
              </a:rPr>
              <a:t>The system uses </a:t>
            </a:r>
            <a:r>
              <a:rPr lang="en-IN" sz="1600" b="1" dirty="0">
                <a:latin typeface="Times New Roman" panose="02020603050405020304" pitchFamily="18" charset="0"/>
                <a:cs typeface="Times New Roman" panose="02020603050405020304" pitchFamily="18" charset="0"/>
              </a:rPr>
              <a:t>Arrays, Strings, Functions, Structures, and File Handling</a:t>
            </a:r>
            <a:r>
              <a:rPr lang="en-IN" sz="1600" dirty="0">
                <a:latin typeface="Times New Roman" panose="02020603050405020304" pitchFamily="18" charset="0"/>
                <a:cs typeface="Times New Roman" panose="02020603050405020304" pitchFamily="18" charset="0"/>
              </a:rPr>
              <a:t> to store and process farm data efficiently. It provides a simple, low-cost, and reliable solution for improving farm management and productivity.</a:t>
            </a:r>
          </a:p>
        </p:txBody>
      </p:sp>
      <p:sp>
        <p:nvSpPr>
          <p:cNvPr id="9" name="AutoShape 7">
            <a:extLst>
              <a:ext uri="{FF2B5EF4-FFF2-40B4-BE49-F238E27FC236}">
                <a16:creationId xmlns:a16="http://schemas.microsoft.com/office/drawing/2014/main" id="{2A0D4106-E3A6-8E51-E773-BF23C0284E7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9">
            <a:extLst>
              <a:ext uri="{FF2B5EF4-FFF2-40B4-BE49-F238E27FC236}">
                <a16:creationId xmlns:a16="http://schemas.microsoft.com/office/drawing/2014/main" id="{B0BCF3B2-F213-12C8-056C-9E88CB9E6A9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Rectangle 2">
            <a:extLst>
              <a:ext uri="{FF2B5EF4-FFF2-40B4-BE49-F238E27FC236}">
                <a16:creationId xmlns:a16="http://schemas.microsoft.com/office/drawing/2014/main" id="{17572299-0C86-64CC-D273-6420BF8CD011}"/>
              </a:ext>
            </a:extLst>
          </p:cNvPr>
          <p:cNvSpPr>
            <a:spLocks noChangeArrowheads="1"/>
          </p:cNvSpPr>
          <p:nvPr/>
        </p:nvSpPr>
        <p:spPr bwMode="auto">
          <a:xfrm>
            <a:off x="1371600" y="2923100"/>
            <a:ext cx="1327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3AA62212-C0AC-3C6C-E867-8DC5F55481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3191" y="2595040"/>
            <a:ext cx="3429000" cy="3429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9D91-65B6-1D71-6426-F42BC0F15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0D377-FCF4-E219-3B2B-C4E0ABE9F853}"/>
              </a:ext>
            </a:extLst>
          </p:cNvPr>
          <p:cNvSpPr>
            <a:spLocks noGrp="1"/>
          </p:cNvSpPr>
          <p:nvPr>
            <p:ph type="title"/>
          </p:nvPr>
        </p:nvSpPr>
        <p:spPr>
          <a:xfrm>
            <a:off x="1862496" y="1752600"/>
            <a:ext cx="8467007" cy="677108"/>
          </a:xfrm>
        </p:spPr>
        <p:txBody>
          <a:bodyPr/>
          <a:lstStyle/>
          <a:p>
            <a:pPr algn="ctr"/>
            <a:r>
              <a:rPr lang="en-US" b="1" spc="-10" dirty="0">
                <a:solidFill>
                  <a:schemeClr val="tx1"/>
                </a:solidFill>
                <a:latin typeface="Times New Roman"/>
                <a:cs typeface="Times New Roman"/>
              </a:rPr>
              <a:t>Existing System</a:t>
            </a:r>
            <a:endParaRPr lang="en-IN" dirty="0"/>
          </a:p>
        </p:txBody>
      </p:sp>
      <p:sp>
        <p:nvSpPr>
          <p:cNvPr id="3" name="Text Placeholder 2">
            <a:extLst>
              <a:ext uri="{FF2B5EF4-FFF2-40B4-BE49-F238E27FC236}">
                <a16:creationId xmlns:a16="http://schemas.microsoft.com/office/drawing/2014/main" id="{9E58DACA-2922-C5C7-E8C2-802EDE4CC5B1}"/>
              </a:ext>
            </a:extLst>
          </p:cNvPr>
          <p:cNvSpPr>
            <a:spLocks noGrp="1"/>
          </p:cNvSpPr>
          <p:nvPr>
            <p:ph type="body" idx="1"/>
          </p:nvPr>
        </p:nvSpPr>
        <p:spPr>
          <a:xfrm>
            <a:off x="685163" y="2704744"/>
            <a:ext cx="5410836" cy="3447098"/>
          </a:xfrm>
        </p:spPr>
        <p:txBody>
          <a:bodyPr/>
          <a:lstStyle/>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Paper-based record maintenance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Manual crop registration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Separate notebooks for expenses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Difficult to calculate total production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High chance of data loss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Time-consuming record searching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centralized farm management </a:t>
            </a:r>
          </a:p>
        </p:txBody>
      </p:sp>
      <p:sp>
        <p:nvSpPr>
          <p:cNvPr id="4" name="TextBox 3">
            <a:extLst>
              <a:ext uri="{FF2B5EF4-FFF2-40B4-BE49-F238E27FC236}">
                <a16:creationId xmlns:a16="http://schemas.microsoft.com/office/drawing/2014/main" id="{A773BEA3-4007-4717-27B3-B752E00DE7CA}"/>
              </a:ext>
            </a:extLst>
          </p:cNvPr>
          <p:cNvSpPr txBox="1"/>
          <p:nvPr/>
        </p:nvSpPr>
        <p:spPr>
          <a:xfrm>
            <a:off x="7010400" y="2813957"/>
            <a:ext cx="4352474" cy="3108543"/>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Limitations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Human errors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Duplicate records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Poor data security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Difficult reporting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automated calculations</a:t>
            </a:r>
          </a:p>
          <a:p>
            <a:endParaRPr lang="en-IN" sz="2800" dirty="0"/>
          </a:p>
        </p:txBody>
      </p:sp>
    </p:spTree>
    <p:extLst>
      <p:ext uri="{BB962C8B-B14F-4D97-AF65-F5344CB8AC3E}">
        <p14:creationId xmlns:p14="http://schemas.microsoft.com/office/powerpoint/2010/main" val="1057488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1A01-F008-4271-15A0-722F5E1BD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0C06C-7A70-1BC6-6402-9B47258CD9CB}"/>
              </a:ext>
            </a:extLst>
          </p:cNvPr>
          <p:cNvSpPr>
            <a:spLocks noGrp="1"/>
          </p:cNvSpPr>
          <p:nvPr>
            <p:ph type="title"/>
          </p:nvPr>
        </p:nvSpPr>
        <p:spPr>
          <a:xfrm>
            <a:off x="1862495" y="1646992"/>
            <a:ext cx="8467007" cy="677108"/>
          </a:xfrm>
        </p:spPr>
        <p:txBody>
          <a:bodyPr/>
          <a:lstStyle/>
          <a:p>
            <a:pPr algn="ctr"/>
            <a:r>
              <a:rPr lang="en-US" b="1" spc="-10" dirty="0">
                <a:solidFill>
                  <a:schemeClr val="tx1"/>
                </a:solidFill>
                <a:latin typeface="Times New Roman"/>
                <a:cs typeface="Times New Roman"/>
              </a:rPr>
              <a:t>Proposed System</a:t>
            </a:r>
            <a:endParaRPr lang="en-IN" dirty="0"/>
          </a:p>
        </p:txBody>
      </p:sp>
      <p:sp>
        <p:nvSpPr>
          <p:cNvPr id="3" name="Text Placeholder 2">
            <a:extLst>
              <a:ext uri="{FF2B5EF4-FFF2-40B4-BE49-F238E27FC236}">
                <a16:creationId xmlns:a16="http://schemas.microsoft.com/office/drawing/2014/main" id="{8539C305-8B2B-A701-CBEA-CD4658A90F77}"/>
              </a:ext>
            </a:extLst>
          </p:cNvPr>
          <p:cNvSpPr>
            <a:spLocks noGrp="1"/>
          </p:cNvSpPr>
          <p:nvPr>
            <p:ph type="body" idx="1"/>
          </p:nvPr>
        </p:nvSpPr>
        <p:spPr>
          <a:xfrm>
            <a:off x="532764" y="2429708"/>
            <a:ext cx="11126470" cy="738664"/>
          </a:xfrm>
        </p:spPr>
        <p:txBody>
          <a:bodyPr/>
          <a:lstStyle/>
          <a:p>
            <a:pPr algn="just"/>
            <a:r>
              <a:rPr lang="en-IN" sz="2400" dirty="0">
                <a:latin typeface="Times New Roman" panose="02020603050405020304" pitchFamily="18" charset="0"/>
                <a:cs typeface="Times New Roman" panose="02020603050405020304" pitchFamily="18" charset="0"/>
              </a:rPr>
              <a:t>The proposed Farm Management System provides a digital platform for maintaining agricultural records.</a:t>
            </a:r>
          </a:p>
        </p:txBody>
      </p:sp>
      <p:sp>
        <p:nvSpPr>
          <p:cNvPr id="4" name="TextBox 3">
            <a:extLst>
              <a:ext uri="{FF2B5EF4-FFF2-40B4-BE49-F238E27FC236}">
                <a16:creationId xmlns:a16="http://schemas.microsoft.com/office/drawing/2014/main" id="{B4ED3618-0997-8FE0-F2A0-FCBE0C2A8F5F}"/>
              </a:ext>
            </a:extLst>
          </p:cNvPr>
          <p:cNvSpPr txBox="1"/>
          <p:nvPr/>
        </p:nvSpPr>
        <p:spPr>
          <a:xfrm>
            <a:off x="6095999" y="2895600"/>
            <a:ext cx="4791696" cy="3416320"/>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Crop Registration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Cultivation Record Management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Resource Tracking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Expense Management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Harvest Recording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Production Summary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File-based permanent storage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Search, Update and Delete records</a:t>
            </a:r>
          </a:p>
        </p:txBody>
      </p:sp>
      <p:sp>
        <p:nvSpPr>
          <p:cNvPr id="5" name="TextBox 4">
            <a:extLst>
              <a:ext uri="{FF2B5EF4-FFF2-40B4-BE49-F238E27FC236}">
                <a16:creationId xmlns:a16="http://schemas.microsoft.com/office/drawing/2014/main" id="{BF7C3C3F-432F-38C2-5AEC-340F534C1CBF}"/>
              </a:ext>
            </a:extLst>
          </p:cNvPr>
          <p:cNvSpPr txBox="1"/>
          <p:nvPr/>
        </p:nvSpPr>
        <p:spPr>
          <a:xfrm>
            <a:off x="1295400" y="3390900"/>
            <a:ext cx="3714478" cy="3046988"/>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Benefits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Easy record management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Reduced paperwork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Accurate calculations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Fast information retrieval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Better decision making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Low-cost software</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0788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429C6-A22C-2C7A-83EE-542E5D9C50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691E0-ABCF-20CC-DD46-4A2F91533E5A}"/>
              </a:ext>
            </a:extLst>
          </p:cNvPr>
          <p:cNvSpPr>
            <a:spLocks noGrp="1"/>
          </p:cNvSpPr>
          <p:nvPr>
            <p:ph type="title"/>
          </p:nvPr>
        </p:nvSpPr>
        <p:spPr>
          <a:xfrm>
            <a:off x="1862496" y="1600200"/>
            <a:ext cx="8467007" cy="553998"/>
          </a:xfrm>
        </p:spPr>
        <p:txBody>
          <a:bodyPr/>
          <a:lstStyle/>
          <a:p>
            <a:pPr algn="ctr"/>
            <a:r>
              <a:rPr lang="en-US" sz="3600" b="1" spc="-10" dirty="0">
                <a:solidFill>
                  <a:schemeClr val="tx1"/>
                </a:solidFill>
                <a:latin typeface="Times New Roman"/>
                <a:cs typeface="Times New Roman"/>
              </a:rPr>
              <a:t>Literature Survey</a:t>
            </a:r>
            <a:endParaRPr lang="en-IN" sz="3600" dirty="0"/>
          </a:p>
        </p:txBody>
      </p:sp>
      <p:sp>
        <p:nvSpPr>
          <p:cNvPr id="3" name="Text Placeholder 2">
            <a:extLst>
              <a:ext uri="{FF2B5EF4-FFF2-40B4-BE49-F238E27FC236}">
                <a16:creationId xmlns:a16="http://schemas.microsoft.com/office/drawing/2014/main" id="{0EF4ECD2-B909-277F-EABB-953F77149BEB}"/>
              </a:ext>
            </a:extLst>
          </p:cNvPr>
          <p:cNvSpPr>
            <a:spLocks noGrp="1"/>
          </p:cNvSpPr>
          <p:nvPr>
            <p:ph type="body" idx="1"/>
          </p:nvPr>
        </p:nvSpPr>
        <p:spPr>
          <a:xfrm>
            <a:off x="762000" y="5552613"/>
            <a:ext cx="10668000" cy="984885"/>
          </a:xfrm>
        </p:spPr>
        <p:txBody>
          <a:bodyPr/>
          <a:lstStyle/>
          <a:p>
            <a:r>
              <a:rPr lang="en-IN" sz="1600" b="1" dirty="0">
                <a:latin typeface="Times New Roman" panose="02020603050405020304" pitchFamily="18" charset="0"/>
                <a:cs typeface="Times New Roman" panose="02020603050405020304" pitchFamily="18" charset="0"/>
              </a:rPr>
              <a:t>Research Gap</a:t>
            </a:r>
          </a:p>
          <a:p>
            <a:r>
              <a:rPr lang="en-IN" sz="1600" dirty="0">
                <a:latin typeface="Times New Roman" panose="02020603050405020304" pitchFamily="18" charset="0"/>
                <a:cs typeface="Times New Roman" panose="02020603050405020304" pitchFamily="18" charset="0"/>
              </a:rPr>
              <a:t>Existing research largely focuses on advanced technologies such as IoT, AI, cloud computing and big-data analytics. Our project focuses on a simple, low-cost farm management system using core C programming concepts and file-based data storage.</a:t>
            </a:r>
          </a:p>
          <a:p>
            <a:pPr algn="just"/>
            <a:endParaRPr lang="en-IN" sz="16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2E4C772-DE53-A313-57CB-6B3ECFE9ACDC}"/>
              </a:ext>
            </a:extLst>
          </p:cNvPr>
          <p:cNvGraphicFramePr>
            <a:graphicFrameLocks noGrp="1"/>
          </p:cNvGraphicFramePr>
          <p:nvPr>
            <p:extLst>
              <p:ext uri="{D42A27DB-BD31-4B8C-83A1-F6EECF244321}">
                <p14:modId xmlns:p14="http://schemas.microsoft.com/office/powerpoint/2010/main" val="1173023955"/>
              </p:ext>
            </p:extLst>
          </p:nvPr>
        </p:nvGraphicFramePr>
        <p:xfrm>
          <a:off x="762000" y="2286000"/>
          <a:ext cx="10668000" cy="3165291"/>
        </p:xfrm>
        <a:graphic>
          <a:graphicData uri="http://schemas.openxmlformats.org/drawingml/2006/table">
            <a:tbl>
              <a:tblPr/>
              <a:tblGrid>
                <a:gridCol w="2667000">
                  <a:extLst>
                    <a:ext uri="{9D8B030D-6E8A-4147-A177-3AD203B41FA5}">
                      <a16:colId xmlns:a16="http://schemas.microsoft.com/office/drawing/2014/main" val="509643669"/>
                    </a:ext>
                  </a:extLst>
                </a:gridCol>
                <a:gridCol w="2667000">
                  <a:extLst>
                    <a:ext uri="{9D8B030D-6E8A-4147-A177-3AD203B41FA5}">
                      <a16:colId xmlns:a16="http://schemas.microsoft.com/office/drawing/2014/main" val="2880715094"/>
                    </a:ext>
                  </a:extLst>
                </a:gridCol>
                <a:gridCol w="2667000">
                  <a:extLst>
                    <a:ext uri="{9D8B030D-6E8A-4147-A177-3AD203B41FA5}">
                      <a16:colId xmlns:a16="http://schemas.microsoft.com/office/drawing/2014/main" val="3499994673"/>
                    </a:ext>
                  </a:extLst>
                </a:gridCol>
                <a:gridCol w="2667000">
                  <a:extLst>
                    <a:ext uri="{9D8B030D-6E8A-4147-A177-3AD203B41FA5}">
                      <a16:colId xmlns:a16="http://schemas.microsoft.com/office/drawing/2014/main" val="1384597899"/>
                    </a:ext>
                  </a:extLst>
                </a:gridCol>
              </a:tblGrid>
              <a:tr h="185051">
                <a:tc>
                  <a:txBody>
                    <a:bodyPr/>
                    <a:lstStyle/>
                    <a:p>
                      <a:pPr>
                        <a:buNone/>
                      </a:pPr>
                      <a:r>
                        <a:rPr lang="en-IN" sz="1200" b="1"/>
                        <a:t>Author &amp; Year</a:t>
                      </a:r>
                      <a:endParaRPr lang="en-IN" sz="1200"/>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Study / Focus</a:t>
                      </a:r>
                      <a:endParaRPr lang="en-IN" sz="1200"/>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Key Findings</a:t>
                      </a:r>
                      <a:endParaRPr lang="en-IN" sz="1200"/>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dirty="0"/>
                        <a:t>Relevance to Our Project</a:t>
                      </a:r>
                      <a:endParaRPr lang="en-IN" sz="1200" dirty="0"/>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731769"/>
                  </a:ext>
                </a:extLst>
              </a:tr>
              <a:tr h="466412">
                <a:tc>
                  <a:txBody>
                    <a:bodyPr/>
                    <a:lstStyle/>
                    <a:p>
                      <a:pPr>
                        <a:buNone/>
                      </a:pPr>
                      <a:r>
                        <a:rPr lang="en-IN" sz="1200"/>
                        <a:t>Tummers et al. (2021)</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Farm Management Information Systems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Identified crop, field and financial management as key functions.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Supports centralized farm record management.</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8581867"/>
                  </a:ext>
                </a:extLst>
              </a:tr>
              <a:tr h="466412">
                <a:tc>
                  <a:txBody>
                    <a:bodyPr/>
                    <a:lstStyle/>
                    <a:p>
                      <a:pPr>
                        <a:buNone/>
                      </a:pPr>
                      <a:r>
                        <a:rPr lang="en-IN" sz="1200"/>
                        <a:t>Iaksch et al. (2021)</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Digitalization &amp; Big Data in Smart Farming</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Digital data improves farm management and decision-making.</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Supports digital storage and processing of farm data.</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9781499"/>
                  </a:ext>
                </a:extLst>
              </a:tr>
              <a:tr h="607091">
                <a:tc>
                  <a:txBody>
                    <a:bodyPr/>
                    <a:lstStyle/>
                    <a:p>
                      <a:pPr>
                        <a:buNone/>
                      </a:pPr>
                      <a:r>
                        <a:rPr lang="en-IN" sz="1200"/>
                        <a:t>El Idrissi et al. (2022)</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ICT in Intelligent Farming</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Discussed digital technologies for improving agricultural management.</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Provides background for smart agriculture systems.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058646"/>
                  </a:ext>
                </a:extLst>
              </a:tr>
              <a:tr h="466412">
                <a:tc>
                  <a:txBody>
                    <a:bodyPr/>
                    <a:lstStyle/>
                    <a:p>
                      <a:pPr>
                        <a:buNone/>
                      </a:pPr>
                      <a:r>
                        <a:rPr lang="en-IN" sz="1200"/>
                        <a:t>Garg &amp; Alam (2023)</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Smart Agriculture Technologies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Highlighted IoT, cloud, AI and data analytics in modern farming.</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Shows future scope for extending our system.</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3708384"/>
                  </a:ext>
                </a:extLst>
              </a:tr>
              <a:tr h="466412">
                <a:tc>
                  <a:txBody>
                    <a:bodyPr/>
                    <a:lstStyle/>
                    <a:p>
                      <a:pPr>
                        <a:buNone/>
                      </a:pPr>
                      <a:r>
                        <a:rPr lang="en-IN" sz="1200"/>
                        <a:t>Basir et al. (2024)</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Digital Farm Recordkeeping</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Discussed migration from paper-based to digital farm records.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Directly supports replacing manual farm records.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6865712"/>
                  </a:ext>
                </a:extLst>
              </a:tr>
              <a:tr h="466412">
                <a:tc>
                  <a:txBody>
                    <a:bodyPr/>
                    <a:lstStyle/>
                    <a:p>
                      <a:pPr>
                        <a:buNone/>
                      </a:pPr>
                      <a:r>
                        <a:rPr lang="en-IN" sz="1200"/>
                        <a:t>Indian Digital Agriculture Study (2023)</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Farm Management Applications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Reviewed digital agricultural applications and adoption challenges.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Highlights the need for simple and accessible solutions.</a:t>
                      </a:r>
                    </a:p>
                  </a:txBody>
                  <a:tcPr marL="43259" marR="43259" marT="21630" marB="2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3792618"/>
                  </a:ext>
                </a:extLst>
              </a:tr>
            </a:tbl>
          </a:graphicData>
        </a:graphic>
      </p:graphicFrame>
    </p:spTree>
    <p:extLst>
      <p:ext uri="{BB962C8B-B14F-4D97-AF65-F5344CB8AC3E}">
        <p14:creationId xmlns:p14="http://schemas.microsoft.com/office/powerpoint/2010/main" val="970569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4F5C0-8E74-BF31-11FD-DE750DEF671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6A0D90C-13C9-B99D-2DF9-B1B4119ECCA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47800" y="1676400"/>
            <a:ext cx="9296400" cy="4731204"/>
          </a:xfrm>
          <a:prstGeom prst="rect">
            <a:avLst/>
          </a:prstGeom>
          <a:ln>
            <a:solidFill>
              <a:schemeClr val="tx1"/>
            </a:solidFill>
          </a:ln>
        </p:spPr>
      </p:pic>
    </p:spTree>
    <p:extLst>
      <p:ext uri="{BB962C8B-B14F-4D97-AF65-F5344CB8AC3E}">
        <p14:creationId xmlns:p14="http://schemas.microsoft.com/office/powerpoint/2010/main" val="2234393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1676400"/>
            <a:ext cx="9753600" cy="443711"/>
          </a:xfrm>
          <a:prstGeom prst="rect">
            <a:avLst/>
          </a:prstGeom>
        </p:spPr>
        <p:txBody>
          <a:bodyPr vert="horz" wrap="square" lIns="0" tIns="12700" rIns="0" bIns="0" rtlCol="0">
            <a:spAutoFit/>
          </a:bodyPr>
          <a:lstStyle/>
          <a:p>
            <a:pPr algn="ctr"/>
            <a:r>
              <a:rPr lang="fr-FR" sz="2800" b="1" dirty="0">
                <a:solidFill>
                  <a:schemeClr val="tx1"/>
                </a:solidFill>
                <a:latin typeface="Times New Roman" panose="02020603050405020304" pitchFamily="18" charset="0"/>
                <a:cs typeface="Times New Roman" panose="02020603050405020304" pitchFamily="18" charset="0"/>
              </a:rPr>
              <a:t>Module 1 – Crop Registration &amp; Cultivation Management</a:t>
            </a: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7AFAB5B-9332-2541-894B-89E9DD3EB4E7}"/>
              </a:ext>
            </a:extLst>
          </p:cNvPr>
          <p:cNvSpPr txBox="1"/>
          <p:nvPr/>
        </p:nvSpPr>
        <p:spPr>
          <a:xfrm>
            <a:off x="457200" y="2125554"/>
            <a:ext cx="8125942" cy="4401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Objective</a:t>
            </a:r>
          </a:p>
          <a:p>
            <a:r>
              <a:rPr lang="en-IN" sz="2000" dirty="0">
                <a:latin typeface="Times New Roman" panose="02020603050405020304" pitchFamily="18" charset="0"/>
                <a:cs typeface="Times New Roman" panose="02020603050405020304" pitchFamily="18" charset="0"/>
              </a:rPr>
              <a:t>To maintain complete records of crops cultivated on the farm and monitor their cultivation details.</a:t>
            </a:r>
          </a:p>
          <a:p>
            <a:r>
              <a:rPr lang="en-IN" sz="2000" b="1" dirty="0">
                <a:latin typeface="Times New Roman" panose="02020603050405020304" pitchFamily="18" charset="0"/>
                <a:cs typeface="Times New Roman" panose="02020603050405020304" pitchFamily="18" charset="0"/>
              </a:rPr>
              <a:t>Features</a:t>
            </a: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Register new crop information </a:t>
            </a: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Record planting and expected harvest dates </a:t>
            </a: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Store crop type, season, and cultivated area </a:t>
            </a: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Search, update, and delete crop records </a:t>
            </a: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View all registered crops </a:t>
            </a:r>
          </a:p>
          <a:p>
            <a:pPr marL="457200" indent="-4572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Save data permanently using file handling</a:t>
            </a:r>
          </a:p>
          <a:p>
            <a:r>
              <a:rPr lang="en-IN" sz="20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Organized crop database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Easy access to cultivation records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Improved crop planning and monitoring</a:t>
            </a:r>
          </a:p>
        </p:txBody>
      </p:sp>
      <p:pic>
        <p:nvPicPr>
          <p:cNvPr id="5" name="Picture 4">
            <a:extLst>
              <a:ext uri="{FF2B5EF4-FFF2-40B4-BE49-F238E27FC236}">
                <a16:creationId xmlns:a16="http://schemas.microsoft.com/office/drawing/2014/main" id="{7C57AE9B-2940-3842-9DB5-DD07312846DD}"/>
              </a:ext>
            </a:extLst>
          </p:cNvPr>
          <p:cNvPicPr>
            <a:picLocks noChangeAspect="1"/>
          </p:cNvPicPr>
          <p:nvPr/>
        </p:nvPicPr>
        <p:blipFill>
          <a:blip r:embed="rId3"/>
          <a:stretch>
            <a:fillRect/>
          </a:stretch>
        </p:blipFill>
        <p:spPr>
          <a:xfrm>
            <a:off x="7205663" y="2895600"/>
            <a:ext cx="4529137" cy="3037326"/>
          </a:xfrm>
          <a:prstGeom prst="rect">
            <a:avLst/>
          </a:prstGeom>
        </p:spPr>
      </p:pic>
      <p:sp>
        <p:nvSpPr>
          <p:cNvPr id="6" name="TextBox 5">
            <a:extLst>
              <a:ext uri="{FF2B5EF4-FFF2-40B4-BE49-F238E27FC236}">
                <a16:creationId xmlns:a16="http://schemas.microsoft.com/office/drawing/2014/main" id="{005E6B05-B8D8-2CE3-CCEB-260E8C209526}"/>
              </a:ext>
            </a:extLst>
          </p:cNvPr>
          <p:cNvSpPr txBox="1"/>
          <p:nvPr/>
        </p:nvSpPr>
        <p:spPr>
          <a:xfrm>
            <a:off x="7374731" y="5999010"/>
            <a:ext cx="4191000" cy="276999"/>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Crop Registration &amp; Cultivation Management in Terminal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82B4D4-9391-EE92-FF9E-582D74A64F25}"/>
              </a:ext>
            </a:extLst>
          </p:cNvPr>
          <p:cNvSpPr txBox="1"/>
          <p:nvPr/>
        </p:nvSpPr>
        <p:spPr>
          <a:xfrm>
            <a:off x="533400" y="2229156"/>
            <a:ext cx="6629400" cy="4708981"/>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Objective</a:t>
            </a:r>
          </a:p>
          <a:p>
            <a:r>
              <a:rPr lang="en-IN" sz="2000" dirty="0">
                <a:latin typeface="Times New Roman" panose="02020603050405020304" pitchFamily="18" charset="0"/>
                <a:cs typeface="Times New Roman" panose="02020603050405020304" pitchFamily="18" charset="0"/>
              </a:rPr>
              <a:t>To monitor farm resources and manage operational expenses efficiently.</a:t>
            </a:r>
          </a:p>
          <a:p>
            <a:r>
              <a:rPr lang="en-IN" sz="2000" b="1" dirty="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Record seed, fertilizer, pesticide, and irrigation usage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Track </a:t>
            </a:r>
            <a:r>
              <a:rPr lang="en-IN" sz="2000" dirty="0" err="1">
                <a:latin typeface="Times New Roman" panose="02020603050405020304" pitchFamily="18" charset="0"/>
                <a:cs typeface="Times New Roman" panose="02020603050405020304" pitchFamily="18" charset="0"/>
              </a:rPr>
              <a:t>labor</a:t>
            </a:r>
            <a:r>
              <a:rPr lang="en-IN" sz="2000" dirty="0">
                <a:latin typeface="Times New Roman" panose="02020603050405020304" pitchFamily="18" charset="0"/>
                <a:cs typeface="Times New Roman" panose="02020603050405020304" pitchFamily="18" charset="0"/>
              </a:rPr>
              <a:t> and machinery expenses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Update and delete resource records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 total farming expenses automatically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expense summary reports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Store all records in files</a:t>
            </a:r>
          </a:p>
          <a:p>
            <a:r>
              <a:rPr lang="en-IN" sz="20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Accurate expense management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Better resource utilization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Reduced financial tracking errors</a:t>
            </a:r>
          </a:p>
          <a:p>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A56A805-AC62-B4EE-B03C-EEC3D9B1D6D7}"/>
              </a:ext>
            </a:extLst>
          </p:cNvPr>
          <p:cNvSpPr txBox="1"/>
          <p:nvPr/>
        </p:nvSpPr>
        <p:spPr>
          <a:xfrm>
            <a:off x="683135" y="1767491"/>
            <a:ext cx="9578443" cy="523220"/>
          </a:xfrm>
          <a:prstGeom prst="rect">
            <a:avLst/>
          </a:prstGeom>
          <a:noFill/>
        </p:spPr>
        <p:txBody>
          <a:bodyPr wrap="square">
            <a:spAutoFit/>
          </a:bodyPr>
          <a:lstStyle/>
          <a:p>
            <a:pPr algn="ctr">
              <a:buNone/>
            </a:pPr>
            <a:r>
              <a:rPr lang="en-GB" sz="2800" b="1" dirty="0">
                <a:latin typeface="Times New Roman" panose="02020603050405020304" pitchFamily="18" charset="0"/>
                <a:cs typeface="Times New Roman" panose="02020603050405020304" pitchFamily="18" charset="0"/>
              </a:rPr>
              <a:t>Module 2 – Farm Resource &amp; Expense Tracking</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D1F9ED5-C062-F5D7-5AAC-192E579CEB0D}"/>
              </a:ext>
            </a:extLst>
          </p:cNvPr>
          <p:cNvPicPr>
            <a:picLocks noChangeAspect="1"/>
          </p:cNvPicPr>
          <p:nvPr/>
        </p:nvPicPr>
        <p:blipFill>
          <a:blip r:embed="rId3"/>
          <a:stretch>
            <a:fillRect/>
          </a:stretch>
        </p:blipFill>
        <p:spPr>
          <a:xfrm>
            <a:off x="7162800" y="2918754"/>
            <a:ext cx="4642104" cy="2778815"/>
          </a:xfrm>
          <a:prstGeom prst="rect">
            <a:avLst/>
          </a:prstGeom>
        </p:spPr>
      </p:pic>
      <p:sp>
        <p:nvSpPr>
          <p:cNvPr id="9" name="TextBox 8">
            <a:extLst>
              <a:ext uri="{FF2B5EF4-FFF2-40B4-BE49-F238E27FC236}">
                <a16:creationId xmlns:a16="http://schemas.microsoft.com/office/drawing/2014/main" id="{B276EE1C-20B8-A0D2-DEDB-F7CD5C83FB13}"/>
              </a:ext>
            </a:extLst>
          </p:cNvPr>
          <p:cNvSpPr txBox="1"/>
          <p:nvPr/>
        </p:nvSpPr>
        <p:spPr>
          <a:xfrm>
            <a:off x="7388352" y="5791200"/>
            <a:ext cx="4191000" cy="276999"/>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Farm Resource &amp; Expense Tracking in Terminal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639BC-BEAD-0D42-D1D6-A6C9376264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3E53BAB-3BFE-B3B6-932C-4504F1C07A2D}"/>
              </a:ext>
            </a:extLst>
          </p:cNvPr>
          <p:cNvSpPr txBox="1"/>
          <p:nvPr/>
        </p:nvSpPr>
        <p:spPr>
          <a:xfrm>
            <a:off x="1306778" y="1828800"/>
            <a:ext cx="9578443" cy="523220"/>
          </a:xfrm>
          <a:prstGeom prst="rect">
            <a:avLst/>
          </a:prstGeom>
          <a:noFill/>
        </p:spPr>
        <p:txBody>
          <a:bodyPr wrap="square">
            <a:spAutoFit/>
          </a:bodyPr>
          <a:lstStyle/>
          <a:p>
            <a:pPr algn="ctr">
              <a:buNone/>
            </a:pPr>
            <a:r>
              <a:rPr lang="en-IN" sz="2800" b="1" dirty="0">
                <a:latin typeface="Times New Roman" panose="02020603050405020304" pitchFamily="18" charset="0"/>
                <a:cs typeface="Times New Roman" panose="02020603050405020304" pitchFamily="18" charset="0"/>
              </a:rPr>
              <a:t>Module 3 – Harvest Record &amp; Production Management</a:t>
            </a:r>
          </a:p>
        </p:txBody>
      </p:sp>
      <p:sp>
        <p:nvSpPr>
          <p:cNvPr id="4" name="TextBox 3">
            <a:extLst>
              <a:ext uri="{FF2B5EF4-FFF2-40B4-BE49-F238E27FC236}">
                <a16:creationId xmlns:a16="http://schemas.microsoft.com/office/drawing/2014/main" id="{DA2DFE62-038E-6856-DA0D-852BB294CE1F}"/>
              </a:ext>
            </a:extLst>
          </p:cNvPr>
          <p:cNvSpPr txBox="1"/>
          <p:nvPr/>
        </p:nvSpPr>
        <p:spPr>
          <a:xfrm>
            <a:off x="609600" y="2368349"/>
            <a:ext cx="7333593" cy="409342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Objective</a:t>
            </a:r>
          </a:p>
          <a:p>
            <a:r>
              <a:rPr lang="en-IN" sz="2000" dirty="0">
                <a:latin typeface="Times New Roman" panose="02020603050405020304" pitchFamily="18" charset="0"/>
                <a:cs typeface="Times New Roman" panose="02020603050405020304" pitchFamily="18" charset="0"/>
              </a:rPr>
              <a:t>To maintain harvest details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farm production.</a:t>
            </a:r>
          </a:p>
          <a:p>
            <a:r>
              <a:rPr lang="en-IN" sz="2000" b="1" dirty="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Record harvest information for each crop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Store harvest date and quantity produced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Record selling price and calculate total income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Search, update, and delete harvest records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production and income reports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 permanent harvest records using file handling </a:t>
            </a:r>
          </a:p>
          <a:p>
            <a:r>
              <a:rPr lang="en-IN" sz="20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Accurate production records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Automated income calculation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Better analysis of farm productivity and profitability</a:t>
            </a:r>
          </a:p>
        </p:txBody>
      </p:sp>
      <p:pic>
        <p:nvPicPr>
          <p:cNvPr id="3" name="Picture 2">
            <a:extLst>
              <a:ext uri="{FF2B5EF4-FFF2-40B4-BE49-F238E27FC236}">
                <a16:creationId xmlns:a16="http://schemas.microsoft.com/office/drawing/2014/main" id="{8B7A9B70-0A43-8BA9-68E0-AEE6303AA7BE}"/>
              </a:ext>
            </a:extLst>
          </p:cNvPr>
          <p:cNvPicPr>
            <a:picLocks noChangeAspect="1"/>
          </p:cNvPicPr>
          <p:nvPr/>
        </p:nvPicPr>
        <p:blipFill>
          <a:blip r:embed="rId3"/>
          <a:stretch>
            <a:fillRect/>
          </a:stretch>
        </p:blipFill>
        <p:spPr>
          <a:xfrm>
            <a:off x="7230293" y="2971800"/>
            <a:ext cx="4479875" cy="2600980"/>
          </a:xfrm>
          <a:prstGeom prst="rect">
            <a:avLst/>
          </a:prstGeom>
        </p:spPr>
      </p:pic>
      <p:sp>
        <p:nvSpPr>
          <p:cNvPr id="6" name="TextBox 5">
            <a:extLst>
              <a:ext uri="{FF2B5EF4-FFF2-40B4-BE49-F238E27FC236}">
                <a16:creationId xmlns:a16="http://schemas.microsoft.com/office/drawing/2014/main" id="{37E237A7-9DB8-8021-1910-74197F013972}"/>
              </a:ext>
            </a:extLst>
          </p:cNvPr>
          <p:cNvSpPr txBox="1"/>
          <p:nvPr/>
        </p:nvSpPr>
        <p:spPr>
          <a:xfrm>
            <a:off x="7374730" y="5740279"/>
            <a:ext cx="4191000" cy="276999"/>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Harvest Record &amp; Production Management in Terminal</a:t>
            </a:r>
          </a:p>
        </p:txBody>
      </p:sp>
    </p:spTree>
    <p:extLst>
      <p:ext uri="{BB962C8B-B14F-4D97-AF65-F5344CB8AC3E}">
        <p14:creationId xmlns:p14="http://schemas.microsoft.com/office/powerpoint/2010/main" val="2402559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18858-9B07-5B43-B179-C7E293FC5A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E45B85-1B45-6571-E46A-844A50FCBE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2550" y="1600200"/>
            <a:ext cx="9486900" cy="4839694"/>
          </a:xfrm>
          <a:prstGeom prst="rect">
            <a:avLst/>
          </a:prstGeom>
        </p:spPr>
      </p:pic>
    </p:spTree>
    <p:extLst>
      <p:ext uri="{BB962C8B-B14F-4D97-AF65-F5344CB8AC3E}">
        <p14:creationId xmlns:p14="http://schemas.microsoft.com/office/powerpoint/2010/main" val="82068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A36A-85B1-786B-0BD0-50128257FA15}"/>
              </a:ext>
            </a:extLst>
          </p:cNvPr>
          <p:cNvSpPr>
            <a:spLocks noGrp="1"/>
          </p:cNvSpPr>
          <p:nvPr>
            <p:ph type="title"/>
          </p:nvPr>
        </p:nvSpPr>
        <p:spPr>
          <a:xfrm>
            <a:off x="3429000" y="1752600"/>
            <a:ext cx="5334000" cy="513549"/>
          </a:xfrm>
        </p:spPr>
        <p:txBody>
          <a:bodyPr/>
          <a:lstStyle/>
          <a:p>
            <a:r>
              <a:rPr lang="en-IN" sz="3000" b="1" dirty="0">
                <a:solidFill>
                  <a:schemeClr val="tx1"/>
                </a:solidFill>
                <a:latin typeface="Times New Roman" panose="02020603050405020304" pitchFamily="18" charset="0"/>
                <a:cs typeface="Times New Roman" panose="02020603050405020304" pitchFamily="18" charset="0"/>
              </a:rPr>
              <a:t>RESULTS AND DISCUSSION</a:t>
            </a:r>
          </a:p>
        </p:txBody>
      </p:sp>
      <p:sp>
        <p:nvSpPr>
          <p:cNvPr id="5" name="TextBox 4">
            <a:extLst>
              <a:ext uri="{FF2B5EF4-FFF2-40B4-BE49-F238E27FC236}">
                <a16:creationId xmlns:a16="http://schemas.microsoft.com/office/drawing/2014/main" id="{845CA4EF-CEBC-A0FF-D526-AF6D3111B245}"/>
              </a:ext>
            </a:extLst>
          </p:cNvPr>
          <p:cNvSpPr txBox="1"/>
          <p:nvPr/>
        </p:nvSpPr>
        <p:spPr>
          <a:xfrm>
            <a:off x="1143000" y="2438400"/>
            <a:ext cx="10591800" cy="3416320"/>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Results</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Successfully developed a menu-driven farm management system.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Crop, resource, and harvest records are stored using file handling.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Supports Add, Search, Update, Delete, and View operations.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Automatic calculation of expenses and harvest income. </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Discussion</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Reduces manual record-keeping errors.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Improves data organization and retrieval. </a:t>
            </a:r>
          </a:p>
        </p:txBody>
      </p:sp>
    </p:spTree>
    <p:extLst>
      <p:ext uri="{BB962C8B-B14F-4D97-AF65-F5344CB8AC3E}">
        <p14:creationId xmlns:p14="http://schemas.microsoft.com/office/powerpoint/2010/main" val="2574823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62495" y="1676400"/>
            <a:ext cx="8467007" cy="566822"/>
          </a:xfrm>
          <a:prstGeom prst="rect">
            <a:avLst/>
          </a:prstGeom>
        </p:spPr>
        <p:txBody>
          <a:bodyPr vert="horz" wrap="square" lIns="0" tIns="12700" rIns="0" bIns="0" rtlCol="0">
            <a:spAutoFit/>
          </a:bodyPr>
          <a:lstStyle/>
          <a:p>
            <a:pPr marL="2519680">
              <a:lnSpc>
                <a:spcPct val="100000"/>
              </a:lnSpc>
              <a:spcBef>
                <a:spcPts val="100"/>
              </a:spcBef>
            </a:pPr>
            <a:r>
              <a:rPr lang="en-IN" sz="3600" b="1" spc="-10" dirty="0">
                <a:solidFill>
                  <a:schemeClr val="tx1"/>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E36E4B9C-40AE-7980-55CD-7FFE728018CE}"/>
              </a:ext>
            </a:extLst>
          </p:cNvPr>
          <p:cNvSpPr txBox="1"/>
          <p:nvPr/>
        </p:nvSpPr>
        <p:spPr>
          <a:xfrm>
            <a:off x="761999" y="2243222"/>
            <a:ext cx="10668000" cy="3903954"/>
          </a:xfrm>
          <a:prstGeom prst="rect">
            <a:avLst/>
          </a:prstGeom>
          <a:noFill/>
        </p:spPr>
        <p:txBody>
          <a:bodyPr wrap="square">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2400" dirty="0">
                <a:latin typeface="Times New Roman" panose="02020603050405020304" pitchFamily="18" charset="0"/>
                <a:cs typeface="Times New Roman" panose="02020603050405020304" pitchFamily="18" charset="0"/>
              </a:rPr>
              <a:t>The Smart Agriculture Farm Management System provides a simple and efficient solution for managing farm records digitally. It enables users to maintain crop, resource, and harvest information with greater accuracy while reducing manual effort. By implementing arrays, strings, functions, and file handling, the project demonstrates the practical application of core C programming concepts. The system can be further enhanced by integrating databases, IoT devices, or mobile applications for advanced farm management.</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2450" y="1828800"/>
            <a:ext cx="3238500" cy="566822"/>
          </a:xfrm>
          <a:prstGeom prst="rect">
            <a:avLst/>
          </a:prstGeom>
        </p:spPr>
        <p:txBody>
          <a:bodyPr vert="horz" wrap="square" lIns="0" tIns="12700" rIns="0" bIns="0" rtlCol="0">
            <a:spAutoFit/>
          </a:bodyPr>
          <a:lstStyle/>
          <a:p>
            <a:pPr marL="12700">
              <a:lnSpc>
                <a:spcPct val="100000"/>
              </a:lnSpc>
              <a:spcBef>
                <a:spcPts val="100"/>
              </a:spcBef>
            </a:pPr>
            <a:r>
              <a:rPr lang="en-IN" sz="3600" b="1" spc="-10" dirty="0">
                <a:solidFill>
                  <a:schemeClr val="tx1"/>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CCB7E276-EF16-2B96-1241-251E15A3452D}"/>
              </a:ext>
            </a:extLst>
          </p:cNvPr>
          <p:cNvSpPr txBox="1"/>
          <p:nvPr/>
        </p:nvSpPr>
        <p:spPr>
          <a:xfrm>
            <a:off x="381000" y="2590800"/>
            <a:ext cx="11201400" cy="3416320"/>
          </a:xfrm>
          <a:prstGeom prst="rect">
            <a:avLst/>
          </a:prstGeom>
          <a:noFill/>
        </p:spPr>
        <p:txBody>
          <a:bodyPr wrap="square">
            <a:spAutoFit/>
          </a:bodyPr>
          <a:lstStyle/>
          <a:p>
            <a:pPr marL="342900" indent="-342900" algn="just">
              <a:buFont typeface="Wingdings" panose="05000000000000000000" pitchFamily="2" charset="2"/>
              <a:buChar char="Ø"/>
            </a:pPr>
            <a:r>
              <a:rPr lang="en-IN" sz="2400" dirty="0" err="1">
                <a:latin typeface="Times New Roman" panose="02020603050405020304" pitchFamily="18" charset="0"/>
                <a:cs typeface="Times New Roman" panose="02020603050405020304" pitchFamily="18" charset="0"/>
              </a:rPr>
              <a:t>Mgendi</a:t>
            </a:r>
            <a:r>
              <a:rPr lang="en-IN" sz="2400" dirty="0">
                <a:latin typeface="Times New Roman" panose="02020603050405020304" pitchFamily="18" charset="0"/>
                <a:cs typeface="Times New Roman" panose="02020603050405020304" pitchFamily="18" charset="0"/>
              </a:rPr>
              <a:t>, G. (2024). </a:t>
            </a:r>
            <a:r>
              <a:rPr lang="en-IN" sz="2400" i="1" dirty="0">
                <a:latin typeface="Times New Roman" panose="02020603050405020304" pitchFamily="18" charset="0"/>
                <a:cs typeface="Times New Roman" panose="02020603050405020304" pitchFamily="18" charset="0"/>
              </a:rPr>
              <a:t>Unlocking the Potential of Precision Agriculture for Sustainable Farming</a:t>
            </a:r>
            <a:r>
              <a:rPr lang="en-IN" sz="2400" dirty="0">
                <a:latin typeface="Times New Roman" panose="02020603050405020304" pitchFamily="18" charset="0"/>
                <a:cs typeface="Times New Roman" panose="02020603050405020304" pitchFamily="18" charset="0"/>
              </a:rPr>
              <a:t>. Springer. </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Getahun, S. et al. (2024). </a:t>
            </a:r>
            <a:r>
              <a:rPr lang="en-IN" sz="2400" i="1" dirty="0">
                <a:latin typeface="Times New Roman" panose="02020603050405020304" pitchFamily="18" charset="0"/>
                <a:cs typeface="Times New Roman" panose="02020603050405020304" pitchFamily="18" charset="0"/>
              </a:rPr>
              <a:t>Application of Precision Agriculture Technologies for Sustainable Crop Production</a:t>
            </a:r>
            <a:r>
              <a:rPr lang="en-IN" sz="2400" dirty="0">
                <a:latin typeface="Times New Roman" panose="02020603050405020304" pitchFamily="18" charset="0"/>
                <a:cs typeface="Times New Roman" panose="02020603050405020304" pitchFamily="18" charset="0"/>
              </a:rPr>
              <a:t>. Wiley. </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Islam, M. et al. (2024). </a:t>
            </a:r>
            <a:r>
              <a:rPr lang="en-IN" sz="2400" i="1" dirty="0">
                <a:latin typeface="Times New Roman" panose="02020603050405020304" pitchFamily="18" charset="0"/>
                <a:cs typeface="Times New Roman" panose="02020603050405020304" pitchFamily="18" charset="0"/>
              </a:rPr>
              <a:t>AI Models in Precision Agriculture: A Review</a:t>
            </a:r>
            <a:r>
              <a:rPr lang="en-IN" sz="2400" dirty="0">
                <a:latin typeface="Times New Roman" panose="02020603050405020304" pitchFamily="18" charset="0"/>
                <a:cs typeface="Times New Roman" panose="02020603050405020304" pitchFamily="18" charset="0"/>
              </a:rPr>
              <a:t>. Springer. </a:t>
            </a:r>
          </a:p>
          <a:p>
            <a:pPr marL="342900" indent="-342900" algn="just">
              <a:buFont typeface="Wingdings" panose="05000000000000000000" pitchFamily="2" charset="2"/>
              <a:buChar char="Ø"/>
            </a:pPr>
            <a:r>
              <a:rPr lang="en-IN" sz="2400" dirty="0" err="1">
                <a:latin typeface="Times New Roman" panose="02020603050405020304" pitchFamily="18" charset="0"/>
                <a:cs typeface="Times New Roman" panose="02020603050405020304" pitchFamily="18" charset="0"/>
              </a:rPr>
              <a:t>Tummers</a:t>
            </a:r>
            <a:r>
              <a:rPr lang="en-IN" sz="2400" dirty="0">
                <a:latin typeface="Times New Roman" panose="02020603050405020304" pitchFamily="18" charset="0"/>
                <a:cs typeface="Times New Roman" panose="02020603050405020304" pitchFamily="18" charset="0"/>
              </a:rPr>
              <a:t>, J. et al. (2021). </a:t>
            </a:r>
            <a:r>
              <a:rPr lang="en-IN" sz="2400" i="1" dirty="0">
                <a:latin typeface="Times New Roman" panose="02020603050405020304" pitchFamily="18" charset="0"/>
                <a:cs typeface="Times New Roman" panose="02020603050405020304" pitchFamily="18" charset="0"/>
              </a:rPr>
              <a:t>Reference Architecture Design for Farm Management Information Systems</a:t>
            </a:r>
            <a:r>
              <a:rPr lang="en-IN" sz="2400" dirty="0">
                <a:latin typeface="Times New Roman" panose="02020603050405020304" pitchFamily="18" charset="0"/>
                <a:cs typeface="Times New Roman" panose="02020603050405020304" pitchFamily="18" charset="0"/>
              </a:rPr>
              <a:t>. Precision Agriculture. </a:t>
            </a: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Kushwaha, M. et al. (2024). </a:t>
            </a:r>
            <a:r>
              <a:rPr lang="en-IN" sz="2400" i="1" dirty="0">
                <a:latin typeface="Times New Roman" panose="02020603050405020304" pitchFamily="18" charset="0"/>
                <a:cs typeface="Times New Roman" panose="02020603050405020304" pitchFamily="18" charset="0"/>
              </a:rPr>
              <a:t>Precision Farming: Methods, Technologies and Future Prospects</a:t>
            </a:r>
            <a:r>
              <a:rPr lang="en-IN" sz="2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68119C-E0BF-F82A-C9C0-0909FCA0E32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992</TotalTime>
  <Words>1114</Words>
  <Application>Microsoft Office PowerPoint</Application>
  <PresentationFormat>Widescreen</PresentationFormat>
  <Paragraphs>162</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Arial MT</vt:lpstr>
      <vt:lpstr>Tahoma</vt:lpstr>
      <vt:lpstr>Times New Roman</vt:lpstr>
      <vt:lpstr>Wingdings</vt:lpstr>
      <vt:lpstr>Office Theme</vt:lpstr>
      <vt:lpstr>PowerPoint Presentation</vt:lpstr>
      <vt:lpstr>Problem Statement</vt:lpstr>
      <vt:lpstr>ABSTRACT</vt:lpstr>
      <vt:lpstr>INTRODUCTION</vt:lpstr>
      <vt:lpstr>Existing System</vt:lpstr>
      <vt:lpstr>Proposed System</vt:lpstr>
      <vt:lpstr>Literature Survey</vt:lpstr>
      <vt:lpstr>PowerPoint Presentation</vt:lpstr>
      <vt:lpstr>Module 1 – Crop Registration &amp; Cultivation Management</vt:lpstr>
      <vt:lpstr>PowerPoint Presentation</vt:lpstr>
      <vt:lpstr>PowerPoint Presentation</vt:lpstr>
      <vt:lpstr>PowerPoint Presentation</vt:lpstr>
      <vt:lpstr>RESULTS AND DISCUSSION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EEA0109 Capstone Project (1).pptx</dc:title>
  <dc:creator>peddi</dc:creator>
  <cp:lastModifiedBy>Digvijay A</cp:lastModifiedBy>
  <cp:revision>25</cp:revision>
  <dcterms:created xsi:type="dcterms:W3CDTF">2025-08-29T08:06:20Z</dcterms:created>
  <dcterms:modified xsi:type="dcterms:W3CDTF">2026-08-19T05:13:05Z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2025-08-29T00:00:00Z</vt:filetime>
  </property>
  <property fmtid="{D5CDD505-2E9C-101B-9397-08002B2CF9AE}" pid="3" name="Creator">
    <vt:lpwstr>Google</vt:lpwstr>
  </property>
  <property fmtid="{D5CDD505-2E9C-101B-9397-08002B2CF9AE}" pid="4" name="LastSaved">
    <vt:filetime>2025-08-29T00:00:00Z</vt:filetime>
  </property>
</Properties>
</file>